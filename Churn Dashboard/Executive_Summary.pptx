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9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8"/>
    <p:restoredTop sz="94558"/>
  </p:normalViewPr>
  <p:slideViewPr>
    <p:cSldViewPr snapToGrid="0">
      <p:cViewPr varScale="1">
        <p:scale>
          <a:sx n="121" d="100"/>
          <a:sy n="121" d="100"/>
        </p:scale>
        <p:origin x="11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20B91-4C9D-C849-A940-1D7BFBDAC4E7}" type="datetimeFigureOut">
              <a:rPr lang="en-US" smtClean="0"/>
              <a:t>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4A7D7-EA3C-504F-A4BA-9438B4BB9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4A7D7-EA3C-504F-A4BA-9438B4BB91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39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1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8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8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2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5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3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2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3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83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0551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6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69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32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73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5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1E41971-2255-9E41-934C-56111BE13030}" type="datetimeFigureOut">
              <a:rPr lang="en-US" smtClean="0"/>
              <a:t>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CB5F3-058F-C649-B786-D9449AC46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44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A0B882D-4FEF-4E28-9811-11D57386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A6D14-0849-4180-8DEF-F2F6BF123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00F738A-9E5C-D265-8849-26939069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539206-EE24-68E9-B1CD-0C86857A6451}"/>
              </a:ext>
            </a:extLst>
          </p:cNvPr>
          <p:cNvGrpSpPr/>
          <p:nvPr/>
        </p:nvGrpSpPr>
        <p:grpSpPr>
          <a:xfrm>
            <a:off x="415494" y="1853248"/>
            <a:ext cx="2364217" cy="4198958"/>
            <a:chOff x="552249" y="2254069"/>
            <a:chExt cx="4130873" cy="3296146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6D03C37-641C-EC97-5305-B3575449ED0B}"/>
                </a:ext>
              </a:extLst>
            </p:cNvPr>
            <p:cNvSpPr/>
            <p:nvPr/>
          </p:nvSpPr>
          <p:spPr>
            <a:xfrm>
              <a:off x="552249" y="2528104"/>
              <a:ext cx="4130873" cy="765450"/>
            </a:xfrm>
            <a:custGeom>
              <a:avLst/>
              <a:gdLst>
                <a:gd name="connsiteX0" fmla="*/ 0 w 4130873"/>
                <a:gd name="connsiteY0" fmla="*/ 0 h 765450"/>
                <a:gd name="connsiteX1" fmla="*/ 4130873 w 4130873"/>
                <a:gd name="connsiteY1" fmla="*/ 0 h 765450"/>
                <a:gd name="connsiteX2" fmla="*/ 4130873 w 4130873"/>
                <a:gd name="connsiteY2" fmla="*/ 765450 h 765450"/>
                <a:gd name="connsiteX3" fmla="*/ 0 w 4130873"/>
                <a:gd name="connsiteY3" fmla="*/ 765450 h 765450"/>
                <a:gd name="connsiteX4" fmla="*/ 0 w 4130873"/>
                <a:gd name="connsiteY4" fmla="*/ 0 h 76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0873" h="765450">
                  <a:moveTo>
                    <a:pt x="0" y="0"/>
                  </a:moveTo>
                  <a:lnTo>
                    <a:pt x="4130873" y="0"/>
                  </a:lnTo>
                  <a:lnTo>
                    <a:pt x="4130873" y="765450"/>
                  </a:lnTo>
                  <a:lnTo>
                    <a:pt x="0" y="7654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0602" tIns="374904" rIns="320602" bIns="128016" numCol="1" spcCol="1270" anchor="t" anchorCtr="0">
              <a:noAutofit/>
            </a:bodyPr>
            <a:lstStyle/>
            <a:p>
              <a:pPr marL="0" lvl="1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2400" kern="1200" dirty="0"/>
                <a:t>26.5%</a:t>
              </a: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1E9D9BC-DC09-088B-4EA4-78D176768F1E}"/>
                </a:ext>
              </a:extLst>
            </p:cNvPr>
            <p:cNvSpPr/>
            <p:nvPr/>
          </p:nvSpPr>
          <p:spPr>
            <a:xfrm>
              <a:off x="1096656" y="2254069"/>
              <a:ext cx="3042058" cy="531360"/>
            </a:xfrm>
            <a:custGeom>
              <a:avLst/>
              <a:gdLst>
                <a:gd name="connsiteX0" fmla="*/ 0 w 2891611"/>
                <a:gd name="connsiteY0" fmla="*/ 88562 h 531360"/>
                <a:gd name="connsiteX1" fmla="*/ 88562 w 2891611"/>
                <a:gd name="connsiteY1" fmla="*/ 0 h 531360"/>
                <a:gd name="connsiteX2" fmla="*/ 2803049 w 2891611"/>
                <a:gd name="connsiteY2" fmla="*/ 0 h 531360"/>
                <a:gd name="connsiteX3" fmla="*/ 2891611 w 2891611"/>
                <a:gd name="connsiteY3" fmla="*/ 88562 h 531360"/>
                <a:gd name="connsiteX4" fmla="*/ 2891611 w 2891611"/>
                <a:gd name="connsiteY4" fmla="*/ 442798 h 531360"/>
                <a:gd name="connsiteX5" fmla="*/ 2803049 w 2891611"/>
                <a:gd name="connsiteY5" fmla="*/ 531360 h 531360"/>
                <a:gd name="connsiteX6" fmla="*/ 88562 w 2891611"/>
                <a:gd name="connsiteY6" fmla="*/ 531360 h 531360"/>
                <a:gd name="connsiteX7" fmla="*/ 0 w 2891611"/>
                <a:gd name="connsiteY7" fmla="*/ 442798 h 531360"/>
                <a:gd name="connsiteX8" fmla="*/ 0 w 2891611"/>
                <a:gd name="connsiteY8" fmla="*/ 88562 h 53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1611" h="531360">
                  <a:moveTo>
                    <a:pt x="0" y="88562"/>
                  </a:moveTo>
                  <a:cubicBezTo>
                    <a:pt x="0" y="39651"/>
                    <a:pt x="39651" y="0"/>
                    <a:pt x="88562" y="0"/>
                  </a:cubicBezTo>
                  <a:lnTo>
                    <a:pt x="2803049" y="0"/>
                  </a:lnTo>
                  <a:cubicBezTo>
                    <a:pt x="2851960" y="0"/>
                    <a:pt x="2891611" y="39651"/>
                    <a:pt x="2891611" y="88562"/>
                  </a:cubicBezTo>
                  <a:lnTo>
                    <a:pt x="2891611" y="442798"/>
                  </a:lnTo>
                  <a:cubicBezTo>
                    <a:pt x="2891611" y="491709"/>
                    <a:pt x="2851960" y="531360"/>
                    <a:pt x="2803049" y="531360"/>
                  </a:cubicBezTo>
                  <a:lnTo>
                    <a:pt x="88562" y="531360"/>
                  </a:lnTo>
                  <a:cubicBezTo>
                    <a:pt x="39651" y="531360"/>
                    <a:pt x="0" y="491709"/>
                    <a:pt x="0" y="442798"/>
                  </a:cubicBezTo>
                  <a:lnTo>
                    <a:pt x="0" y="88562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235" tIns="25939" rIns="135235" bIns="25939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Monthly Churn Rate</a:t>
              </a: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01A3D5E-CEFE-0CBF-026C-DEB84E04ECE2}"/>
                </a:ext>
              </a:extLst>
            </p:cNvPr>
            <p:cNvSpPr/>
            <p:nvPr/>
          </p:nvSpPr>
          <p:spPr>
            <a:xfrm>
              <a:off x="552249" y="3656434"/>
              <a:ext cx="4130873" cy="765450"/>
            </a:xfrm>
            <a:custGeom>
              <a:avLst/>
              <a:gdLst>
                <a:gd name="connsiteX0" fmla="*/ 0 w 4130873"/>
                <a:gd name="connsiteY0" fmla="*/ 0 h 765450"/>
                <a:gd name="connsiteX1" fmla="*/ 4130873 w 4130873"/>
                <a:gd name="connsiteY1" fmla="*/ 0 h 765450"/>
                <a:gd name="connsiteX2" fmla="*/ 4130873 w 4130873"/>
                <a:gd name="connsiteY2" fmla="*/ 765450 h 765450"/>
                <a:gd name="connsiteX3" fmla="*/ 0 w 4130873"/>
                <a:gd name="connsiteY3" fmla="*/ 765450 h 765450"/>
                <a:gd name="connsiteX4" fmla="*/ 0 w 4130873"/>
                <a:gd name="connsiteY4" fmla="*/ 0 h 76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0873" h="765450">
                  <a:moveTo>
                    <a:pt x="0" y="0"/>
                  </a:moveTo>
                  <a:lnTo>
                    <a:pt x="4130873" y="0"/>
                  </a:lnTo>
                  <a:lnTo>
                    <a:pt x="4130873" y="765450"/>
                  </a:lnTo>
                  <a:lnTo>
                    <a:pt x="0" y="7654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0602" tIns="374904" rIns="320602" bIns="128016" numCol="1" spcCol="1270" anchor="t" anchorCtr="0">
              <a:noAutofit/>
            </a:bodyPr>
            <a:lstStyle/>
            <a:p>
              <a:pPr marL="0" lvl="1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2400" kern="1200" dirty="0"/>
                <a:t>$181.15</a:t>
              </a: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ADCE659-9E96-26D3-0291-F5478D1DFCDA}"/>
                </a:ext>
              </a:extLst>
            </p:cNvPr>
            <p:cNvSpPr/>
            <p:nvPr/>
          </p:nvSpPr>
          <p:spPr>
            <a:xfrm>
              <a:off x="1096656" y="3408045"/>
              <a:ext cx="3042058" cy="531360"/>
            </a:xfrm>
            <a:custGeom>
              <a:avLst/>
              <a:gdLst>
                <a:gd name="connsiteX0" fmla="*/ 0 w 2891611"/>
                <a:gd name="connsiteY0" fmla="*/ 88562 h 531360"/>
                <a:gd name="connsiteX1" fmla="*/ 88562 w 2891611"/>
                <a:gd name="connsiteY1" fmla="*/ 0 h 531360"/>
                <a:gd name="connsiteX2" fmla="*/ 2803049 w 2891611"/>
                <a:gd name="connsiteY2" fmla="*/ 0 h 531360"/>
                <a:gd name="connsiteX3" fmla="*/ 2891611 w 2891611"/>
                <a:gd name="connsiteY3" fmla="*/ 88562 h 531360"/>
                <a:gd name="connsiteX4" fmla="*/ 2891611 w 2891611"/>
                <a:gd name="connsiteY4" fmla="*/ 442798 h 531360"/>
                <a:gd name="connsiteX5" fmla="*/ 2803049 w 2891611"/>
                <a:gd name="connsiteY5" fmla="*/ 531360 h 531360"/>
                <a:gd name="connsiteX6" fmla="*/ 88562 w 2891611"/>
                <a:gd name="connsiteY6" fmla="*/ 531360 h 531360"/>
                <a:gd name="connsiteX7" fmla="*/ 0 w 2891611"/>
                <a:gd name="connsiteY7" fmla="*/ 442798 h 531360"/>
                <a:gd name="connsiteX8" fmla="*/ 0 w 2891611"/>
                <a:gd name="connsiteY8" fmla="*/ 88562 h 53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1611" h="531360">
                  <a:moveTo>
                    <a:pt x="0" y="88562"/>
                  </a:moveTo>
                  <a:cubicBezTo>
                    <a:pt x="0" y="39651"/>
                    <a:pt x="39651" y="0"/>
                    <a:pt x="88562" y="0"/>
                  </a:cubicBezTo>
                  <a:lnTo>
                    <a:pt x="2803049" y="0"/>
                  </a:lnTo>
                  <a:cubicBezTo>
                    <a:pt x="2851960" y="0"/>
                    <a:pt x="2891611" y="39651"/>
                    <a:pt x="2891611" y="88562"/>
                  </a:cubicBezTo>
                  <a:lnTo>
                    <a:pt x="2891611" y="442798"/>
                  </a:lnTo>
                  <a:cubicBezTo>
                    <a:pt x="2891611" y="491709"/>
                    <a:pt x="2851960" y="531360"/>
                    <a:pt x="2803049" y="531360"/>
                  </a:cubicBezTo>
                  <a:lnTo>
                    <a:pt x="88562" y="531360"/>
                  </a:lnTo>
                  <a:cubicBezTo>
                    <a:pt x="39651" y="531360"/>
                    <a:pt x="0" y="491709"/>
                    <a:pt x="0" y="442798"/>
                  </a:cubicBezTo>
                  <a:lnTo>
                    <a:pt x="0" y="88562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235" tIns="25939" rIns="135235" bIns="25939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Avg. Monthly Cost 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3751990-FC44-0F4A-F5CA-8A807BA54A48}"/>
                </a:ext>
              </a:extLst>
            </p:cNvPr>
            <p:cNvSpPr/>
            <p:nvPr/>
          </p:nvSpPr>
          <p:spPr>
            <a:xfrm>
              <a:off x="552249" y="4784765"/>
              <a:ext cx="4130873" cy="765450"/>
            </a:xfrm>
            <a:custGeom>
              <a:avLst/>
              <a:gdLst>
                <a:gd name="connsiteX0" fmla="*/ 0 w 4130873"/>
                <a:gd name="connsiteY0" fmla="*/ 0 h 765450"/>
                <a:gd name="connsiteX1" fmla="*/ 4130873 w 4130873"/>
                <a:gd name="connsiteY1" fmla="*/ 0 h 765450"/>
                <a:gd name="connsiteX2" fmla="*/ 4130873 w 4130873"/>
                <a:gd name="connsiteY2" fmla="*/ 765450 h 765450"/>
                <a:gd name="connsiteX3" fmla="*/ 0 w 4130873"/>
                <a:gd name="connsiteY3" fmla="*/ 765450 h 765450"/>
                <a:gd name="connsiteX4" fmla="*/ 0 w 4130873"/>
                <a:gd name="connsiteY4" fmla="*/ 0 h 76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0873" h="765450">
                  <a:moveTo>
                    <a:pt x="0" y="0"/>
                  </a:moveTo>
                  <a:lnTo>
                    <a:pt x="4130873" y="0"/>
                  </a:lnTo>
                  <a:lnTo>
                    <a:pt x="4130873" y="765450"/>
                  </a:lnTo>
                  <a:lnTo>
                    <a:pt x="0" y="7654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0602" tIns="374904" rIns="320602" bIns="128016" numCol="1" spcCol="1270" anchor="t" anchorCtr="0">
              <a:noAutofit/>
            </a:bodyPr>
            <a:lstStyle/>
            <a:p>
              <a:pPr marL="0" lvl="1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2400" kern="1200" dirty="0"/>
                <a:t>$528,132.21</a:t>
              </a: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2B58E6E-2E18-51D0-6B14-F61D8F03F270}"/>
                </a:ext>
              </a:extLst>
            </p:cNvPr>
            <p:cNvSpPr/>
            <p:nvPr/>
          </p:nvSpPr>
          <p:spPr>
            <a:xfrm>
              <a:off x="1038978" y="4518595"/>
              <a:ext cx="3042058" cy="531360"/>
            </a:xfrm>
            <a:custGeom>
              <a:avLst/>
              <a:gdLst>
                <a:gd name="connsiteX0" fmla="*/ 0 w 2891611"/>
                <a:gd name="connsiteY0" fmla="*/ 88562 h 531360"/>
                <a:gd name="connsiteX1" fmla="*/ 88562 w 2891611"/>
                <a:gd name="connsiteY1" fmla="*/ 0 h 531360"/>
                <a:gd name="connsiteX2" fmla="*/ 2803049 w 2891611"/>
                <a:gd name="connsiteY2" fmla="*/ 0 h 531360"/>
                <a:gd name="connsiteX3" fmla="*/ 2891611 w 2891611"/>
                <a:gd name="connsiteY3" fmla="*/ 88562 h 531360"/>
                <a:gd name="connsiteX4" fmla="*/ 2891611 w 2891611"/>
                <a:gd name="connsiteY4" fmla="*/ 442798 h 531360"/>
                <a:gd name="connsiteX5" fmla="*/ 2803049 w 2891611"/>
                <a:gd name="connsiteY5" fmla="*/ 531360 h 531360"/>
                <a:gd name="connsiteX6" fmla="*/ 88562 w 2891611"/>
                <a:gd name="connsiteY6" fmla="*/ 531360 h 531360"/>
                <a:gd name="connsiteX7" fmla="*/ 0 w 2891611"/>
                <a:gd name="connsiteY7" fmla="*/ 442798 h 531360"/>
                <a:gd name="connsiteX8" fmla="*/ 0 w 2891611"/>
                <a:gd name="connsiteY8" fmla="*/ 88562 h 53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1611" h="531360">
                  <a:moveTo>
                    <a:pt x="0" y="88562"/>
                  </a:moveTo>
                  <a:cubicBezTo>
                    <a:pt x="0" y="39651"/>
                    <a:pt x="39651" y="0"/>
                    <a:pt x="88562" y="0"/>
                  </a:cubicBezTo>
                  <a:lnTo>
                    <a:pt x="2803049" y="0"/>
                  </a:lnTo>
                  <a:cubicBezTo>
                    <a:pt x="2851960" y="0"/>
                    <a:pt x="2891611" y="39651"/>
                    <a:pt x="2891611" y="88562"/>
                  </a:cubicBezTo>
                  <a:lnTo>
                    <a:pt x="2891611" y="442798"/>
                  </a:lnTo>
                  <a:cubicBezTo>
                    <a:pt x="2891611" y="491709"/>
                    <a:pt x="2851960" y="531360"/>
                    <a:pt x="2803049" y="531360"/>
                  </a:cubicBezTo>
                  <a:lnTo>
                    <a:pt x="88562" y="531360"/>
                  </a:lnTo>
                  <a:cubicBezTo>
                    <a:pt x="39651" y="531360"/>
                    <a:pt x="0" y="491709"/>
                    <a:pt x="0" y="442798"/>
                  </a:cubicBezTo>
                  <a:lnTo>
                    <a:pt x="0" y="88562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235" tIns="25939" rIns="135235" bIns="25939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Lost Revenue (monthly)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E498E9-86C7-A6A7-CB05-E58FDB812922}"/>
              </a:ext>
            </a:extLst>
          </p:cNvPr>
          <p:cNvGrpSpPr/>
          <p:nvPr/>
        </p:nvGrpSpPr>
        <p:grpSpPr>
          <a:xfrm>
            <a:off x="2902604" y="1390611"/>
            <a:ext cx="6017987" cy="5289589"/>
            <a:chOff x="3277457" y="1390611"/>
            <a:chExt cx="5743254" cy="5059177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ECA470FC-53EC-CEBC-A15C-2C5FD7338995}"/>
                </a:ext>
              </a:extLst>
            </p:cNvPr>
            <p:cNvSpPr/>
            <p:nvPr/>
          </p:nvSpPr>
          <p:spPr>
            <a:xfrm>
              <a:off x="3277457" y="1390611"/>
              <a:ext cx="5743254" cy="5059177"/>
            </a:xfrm>
            <a:prstGeom prst="roundRect">
              <a:avLst>
                <a:gd name="adj" fmla="val 2327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2A20E02-9827-6BAA-F26D-C68637D881AE}"/>
                </a:ext>
              </a:extLst>
            </p:cNvPr>
            <p:cNvGrpSpPr/>
            <p:nvPr/>
          </p:nvGrpSpPr>
          <p:grpSpPr>
            <a:xfrm>
              <a:off x="3582989" y="2254126"/>
              <a:ext cx="5084282" cy="3766716"/>
              <a:chOff x="3198120" y="1645358"/>
              <a:chExt cx="3752823" cy="4169913"/>
            </a:xfrm>
          </p:grpSpPr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BD0710B9-F6F9-29F1-44C0-EFF3E815499D}"/>
                  </a:ext>
                </a:extLst>
              </p:cNvPr>
              <p:cNvSpPr/>
              <p:nvPr/>
            </p:nvSpPr>
            <p:spPr>
              <a:xfrm>
                <a:off x="3198120" y="1645358"/>
                <a:ext cx="1753655" cy="652275"/>
              </a:xfrm>
              <a:custGeom>
                <a:avLst/>
                <a:gdLst>
                  <a:gd name="connsiteX0" fmla="*/ 0 w 1753655"/>
                  <a:gd name="connsiteY0" fmla="*/ 0 h 652275"/>
                  <a:gd name="connsiteX1" fmla="*/ 1753655 w 1753655"/>
                  <a:gd name="connsiteY1" fmla="*/ 0 h 652275"/>
                  <a:gd name="connsiteX2" fmla="*/ 1753655 w 1753655"/>
                  <a:gd name="connsiteY2" fmla="*/ 652275 h 652275"/>
                  <a:gd name="connsiteX3" fmla="*/ 0 w 1753655"/>
                  <a:gd name="connsiteY3" fmla="*/ 652275 h 652275"/>
                  <a:gd name="connsiteX4" fmla="*/ 0 w 1753655"/>
                  <a:gd name="connsiteY4" fmla="*/ 0 h 65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652275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652275"/>
                    </a:lnTo>
                    <a:lnTo>
                      <a:pt x="0" y="65227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2456" tIns="52832" rIns="92456" bIns="528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300" kern="1200" dirty="0"/>
                  <a:t>Churn by State May </a:t>
                </a:r>
                <a:r>
                  <a:rPr lang="en-US" sz="1300" dirty="0"/>
                  <a:t>B</a:t>
                </a:r>
                <a:r>
                  <a:rPr lang="en-US" sz="1300" kern="1200" dirty="0"/>
                  <a:t>e More Impactful</a:t>
                </a: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5CA2DFB2-EC80-9B85-41FC-2E86777B274C}"/>
                  </a:ext>
                </a:extLst>
              </p:cNvPr>
              <p:cNvSpPr/>
              <p:nvPr/>
            </p:nvSpPr>
            <p:spPr>
              <a:xfrm>
                <a:off x="3198120" y="2297633"/>
                <a:ext cx="1753655" cy="1365136"/>
              </a:xfrm>
              <a:custGeom>
                <a:avLst/>
                <a:gdLst>
                  <a:gd name="connsiteX0" fmla="*/ 0 w 1753655"/>
                  <a:gd name="connsiteY0" fmla="*/ 0 h 1874577"/>
                  <a:gd name="connsiteX1" fmla="*/ 1753655 w 1753655"/>
                  <a:gd name="connsiteY1" fmla="*/ 0 h 1874577"/>
                  <a:gd name="connsiteX2" fmla="*/ 1753655 w 1753655"/>
                  <a:gd name="connsiteY2" fmla="*/ 1874577 h 1874577"/>
                  <a:gd name="connsiteX3" fmla="*/ 0 w 1753655"/>
                  <a:gd name="connsiteY3" fmla="*/ 1874577 h 1874577"/>
                  <a:gd name="connsiteX4" fmla="*/ 0 w 1753655"/>
                  <a:gd name="connsiteY4" fmla="*/ 0 h 187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1874577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1874577"/>
                    </a:lnTo>
                    <a:lnTo>
                      <a:pt x="0" y="187457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342" tIns="69342" rIns="92456" bIns="104013" numCol="1" spcCol="1270" anchor="t" anchorCtr="0">
                <a:noAutofit/>
              </a:bodyPr>
              <a:lstStyle/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kern="1200" dirty="0"/>
                  <a:t>Regional churn rates don’t reveal targeted areas with high churn rates</a:t>
                </a:r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dirty="0"/>
                  <a:t>Churn rates vary more at state level</a:t>
                </a:r>
                <a:endParaRPr lang="en-US" sz="1300" kern="1200" dirty="0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F9F32FCF-2A3F-9705-6CE5-8D7310F40C2D}"/>
                  </a:ext>
                </a:extLst>
              </p:cNvPr>
              <p:cNvSpPr/>
              <p:nvPr/>
            </p:nvSpPr>
            <p:spPr>
              <a:xfrm>
                <a:off x="5197287" y="1645358"/>
                <a:ext cx="1753655" cy="652275"/>
              </a:xfrm>
              <a:custGeom>
                <a:avLst/>
                <a:gdLst>
                  <a:gd name="connsiteX0" fmla="*/ 0 w 1753655"/>
                  <a:gd name="connsiteY0" fmla="*/ 0 h 652275"/>
                  <a:gd name="connsiteX1" fmla="*/ 1753655 w 1753655"/>
                  <a:gd name="connsiteY1" fmla="*/ 0 h 652275"/>
                  <a:gd name="connsiteX2" fmla="*/ 1753655 w 1753655"/>
                  <a:gd name="connsiteY2" fmla="*/ 652275 h 652275"/>
                  <a:gd name="connsiteX3" fmla="*/ 0 w 1753655"/>
                  <a:gd name="connsiteY3" fmla="*/ 652275 h 652275"/>
                  <a:gd name="connsiteX4" fmla="*/ 0 w 1753655"/>
                  <a:gd name="connsiteY4" fmla="*/ 0 h 65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652275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652275"/>
                    </a:lnTo>
                    <a:lnTo>
                      <a:pt x="0" y="65227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2456" tIns="52832" rIns="92456" bIns="528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300" kern="1200" dirty="0"/>
                  <a:t>Churners Have Higher Average Monthly Charges</a:t>
                </a: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2AE7F7EC-622D-8B75-0899-F8B91BFC0828}"/>
                  </a:ext>
                </a:extLst>
              </p:cNvPr>
              <p:cNvSpPr/>
              <p:nvPr/>
            </p:nvSpPr>
            <p:spPr>
              <a:xfrm>
                <a:off x="5197287" y="2297633"/>
                <a:ext cx="1753655" cy="1374945"/>
              </a:xfrm>
              <a:custGeom>
                <a:avLst/>
                <a:gdLst>
                  <a:gd name="connsiteX0" fmla="*/ 0 w 1753655"/>
                  <a:gd name="connsiteY0" fmla="*/ 0 h 1874577"/>
                  <a:gd name="connsiteX1" fmla="*/ 1753655 w 1753655"/>
                  <a:gd name="connsiteY1" fmla="*/ 0 h 1874577"/>
                  <a:gd name="connsiteX2" fmla="*/ 1753655 w 1753655"/>
                  <a:gd name="connsiteY2" fmla="*/ 1874577 h 1874577"/>
                  <a:gd name="connsiteX3" fmla="*/ 0 w 1753655"/>
                  <a:gd name="connsiteY3" fmla="*/ 1874577 h 1874577"/>
                  <a:gd name="connsiteX4" fmla="*/ 0 w 1753655"/>
                  <a:gd name="connsiteY4" fmla="*/ 0 h 187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1874577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1874577"/>
                    </a:lnTo>
                    <a:lnTo>
                      <a:pt x="0" y="187457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342" tIns="69342" rIns="92456" bIns="104013" numCol="1" spcCol="1270" anchor="t" anchorCtr="0">
                <a:noAutofit/>
              </a:bodyPr>
              <a:lstStyle/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kern="1200" dirty="0"/>
                  <a:t>Overall Avg. Monthly Charge: $181.15 </a:t>
                </a:r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kern="1200" dirty="0"/>
                  <a:t>Churned Avg. Monthly Charge: $199.30</a:t>
                </a:r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kern="1200" dirty="0"/>
                  <a:t>Non-churned Avg. Monthly Charge: $163.01</a:t>
                </a:r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241ADA17-571F-88D1-1F20-C1E8D7E40783}"/>
                  </a:ext>
                </a:extLst>
              </p:cNvPr>
              <p:cNvSpPr/>
              <p:nvPr/>
            </p:nvSpPr>
            <p:spPr>
              <a:xfrm>
                <a:off x="3198120" y="3827053"/>
                <a:ext cx="1753655" cy="652275"/>
              </a:xfrm>
              <a:custGeom>
                <a:avLst/>
                <a:gdLst>
                  <a:gd name="connsiteX0" fmla="*/ 0 w 1753655"/>
                  <a:gd name="connsiteY0" fmla="*/ 0 h 652275"/>
                  <a:gd name="connsiteX1" fmla="*/ 1753655 w 1753655"/>
                  <a:gd name="connsiteY1" fmla="*/ 0 h 652275"/>
                  <a:gd name="connsiteX2" fmla="*/ 1753655 w 1753655"/>
                  <a:gd name="connsiteY2" fmla="*/ 652275 h 652275"/>
                  <a:gd name="connsiteX3" fmla="*/ 0 w 1753655"/>
                  <a:gd name="connsiteY3" fmla="*/ 652275 h 652275"/>
                  <a:gd name="connsiteX4" fmla="*/ 0 w 1753655"/>
                  <a:gd name="connsiteY4" fmla="*/ 0 h 65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652275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652275"/>
                    </a:lnTo>
                    <a:lnTo>
                      <a:pt x="0" y="65227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2456" tIns="52832" rIns="92456" bIns="528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300" kern="1200" dirty="0"/>
                  <a:t>Large </a:t>
                </a:r>
                <a:r>
                  <a:rPr lang="en-US" sz="1300" dirty="0"/>
                  <a:t>Disparity with </a:t>
                </a:r>
                <a:r>
                  <a:rPr lang="en-US" sz="1300" kern="1200" dirty="0"/>
                  <a:t>Competitive Pricing</a:t>
                </a: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E08108C-0C6E-B71C-F4BD-5DF783A28D87}"/>
                  </a:ext>
                </a:extLst>
              </p:cNvPr>
              <p:cNvSpPr/>
              <p:nvPr/>
            </p:nvSpPr>
            <p:spPr>
              <a:xfrm>
                <a:off x="3198120" y="4479327"/>
                <a:ext cx="1753655" cy="1335944"/>
              </a:xfrm>
              <a:custGeom>
                <a:avLst/>
                <a:gdLst>
                  <a:gd name="connsiteX0" fmla="*/ 0 w 1753655"/>
                  <a:gd name="connsiteY0" fmla="*/ 0 h 1874577"/>
                  <a:gd name="connsiteX1" fmla="*/ 1753655 w 1753655"/>
                  <a:gd name="connsiteY1" fmla="*/ 0 h 1874577"/>
                  <a:gd name="connsiteX2" fmla="*/ 1753655 w 1753655"/>
                  <a:gd name="connsiteY2" fmla="*/ 1874577 h 1874577"/>
                  <a:gd name="connsiteX3" fmla="*/ 0 w 1753655"/>
                  <a:gd name="connsiteY3" fmla="*/ 1874577 h 1874577"/>
                  <a:gd name="connsiteX4" fmla="*/ 0 w 1753655"/>
                  <a:gd name="connsiteY4" fmla="*/ 0 h 187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1874577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1874577"/>
                    </a:lnTo>
                    <a:lnTo>
                      <a:pt x="0" y="187457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342" tIns="69342" rIns="92456" bIns="104013" numCol="1" spcCol="1270" anchor="t" anchorCtr="0">
                <a:noAutofit/>
              </a:bodyPr>
              <a:lstStyle/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kern="1200" dirty="0"/>
                  <a:t>Minimum Telco monthly pricing can be up to 360% more than minimum pricing of competitor</a:t>
                </a:r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300" dirty="0"/>
                  <a:t>i.e. Arkansas ($92.50 vs. $19.95)</a:t>
                </a:r>
                <a:endParaRPr lang="en-US" sz="1300" kern="1200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00CACFE7-A160-1D55-E34F-7AB642900F07}"/>
                  </a:ext>
                </a:extLst>
              </p:cNvPr>
              <p:cNvSpPr/>
              <p:nvPr/>
            </p:nvSpPr>
            <p:spPr>
              <a:xfrm>
                <a:off x="5197288" y="3827053"/>
                <a:ext cx="1753655" cy="652275"/>
              </a:xfrm>
              <a:custGeom>
                <a:avLst/>
                <a:gdLst>
                  <a:gd name="connsiteX0" fmla="*/ 0 w 1753655"/>
                  <a:gd name="connsiteY0" fmla="*/ 0 h 652275"/>
                  <a:gd name="connsiteX1" fmla="*/ 1753655 w 1753655"/>
                  <a:gd name="connsiteY1" fmla="*/ 0 h 652275"/>
                  <a:gd name="connsiteX2" fmla="*/ 1753655 w 1753655"/>
                  <a:gd name="connsiteY2" fmla="*/ 652275 h 652275"/>
                  <a:gd name="connsiteX3" fmla="*/ 0 w 1753655"/>
                  <a:gd name="connsiteY3" fmla="*/ 652275 h 652275"/>
                  <a:gd name="connsiteX4" fmla="*/ 0 w 1753655"/>
                  <a:gd name="connsiteY4" fmla="*/ 0 h 65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652275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652275"/>
                    </a:lnTo>
                    <a:lnTo>
                      <a:pt x="0" y="65227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2456" tIns="52832" rIns="92456" bIns="528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300" kern="1200" dirty="0"/>
                  <a:t>Certain Customer Attributes Show Pattern with Churn</a:t>
                </a: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A0F5FBD-6C66-3B43-8022-1278D15B0F34}"/>
                  </a:ext>
                </a:extLst>
              </p:cNvPr>
              <p:cNvSpPr/>
              <p:nvPr/>
            </p:nvSpPr>
            <p:spPr>
              <a:xfrm>
                <a:off x="5197288" y="4479327"/>
                <a:ext cx="1753655" cy="1335944"/>
              </a:xfrm>
              <a:custGeom>
                <a:avLst/>
                <a:gdLst>
                  <a:gd name="connsiteX0" fmla="*/ 0 w 1753655"/>
                  <a:gd name="connsiteY0" fmla="*/ 0 h 1874577"/>
                  <a:gd name="connsiteX1" fmla="*/ 1753655 w 1753655"/>
                  <a:gd name="connsiteY1" fmla="*/ 0 h 1874577"/>
                  <a:gd name="connsiteX2" fmla="*/ 1753655 w 1753655"/>
                  <a:gd name="connsiteY2" fmla="*/ 1874577 h 1874577"/>
                  <a:gd name="connsiteX3" fmla="*/ 0 w 1753655"/>
                  <a:gd name="connsiteY3" fmla="*/ 1874577 h 1874577"/>
                  <a:gd name="connsiteX4" fmla="*/ 0 w 1753655"/>
                  <a:gd name="connsiteY4" fmla="*/ 0 h 187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655" h="1874577">
                    <a:moveTo>
                      <a:pt x="0" y="0"/>
                    </a:moveTo>
                    <a:lnTo>
                      <a:pt x="1753655" y="0"/>
                    </a:lnTo>
                    <a:lnTo>
                      <a:pt x="1753655" y="1874577"/>
                    </a:lnTo>
                    <a:lnTo>
                      <a:pt x="0" y="187457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342" tIns="69342" rIns="92456" bIns="104013" numCol="1" spcCol="1270" anchor="t" anchorCtr="0">
                <a:noAutofit/>
              </a:bodyPr>
              <a:lstStyle/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100" kern="1200" dirty="0"/>
                  <a:t>Month-to-month contracts reveal a higher pattern of churn</a:t>
                </a:r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100" dirty="0"/>
                  <a:t>Most churned customer use DSL</a:t>
                </a:r>
                <a:endParaRPr lang="en-US" sz="1100" kern="1200" dirty="0"/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100" dirty="0"/>
                  <a:t>Among people who opted to stream movies, highest churn</a:t>
                </a:r>
                <a:endParaRPr lang="en-US" sz="1100" kern="1200" dirty="0"/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en-US" sz="1300" kern="1200" dirty="0"/>
              </a:p>
              <a:p>
                <a:pPr marL="114300" lvl="1" indent="-114300" algn="l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en-US" sz="1300" kern="1200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DD534BA-A828-4733-1081-2035372E7FE2}"/>
                </a:ext>
              </a:extLst>
            </p:cNvPr>
            <p:cNvSpPr txBox="1"/>
            <p:nvPr/>
          </p:nvSpPr>
          <p:spPr>
            <a:xfrm>
              <a:off x="3425821" y="1506207"/>
              <a:ext cx="54555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Dashboard Insights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D5BAFA3-BA08-FF2F-F0B0-3A16EF80C395}"/>
              </a:ext>
            </a:extLst>
          </p:cNvPr>
          <p:cNvGrpSpPr/>
          <p:nvPr/>
        </p:nvGrpSpPr>
        <p:grpSpPr>
          <a:xfrm>
            <a:off x="9043486" y="1243253"/>
            <a:ext cx="2995207" cy="5233746"/>
            <a:chOff x="8034048" y="1977038"/>
            <a:chExt cx="4324261" cy="3150891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55A0B1A-98B3-0D7F-4F05-F401B786B0A9}"/>
                </a:ext>
              </a:extLst>
            </p:cNvPr>
            <p:cNvSpPr/>
            <p:nvPr/>
          </p:nvSpPr>
          <p:spPr>
            <a:xfrm>
              <a:off x="8034048" y="2332576"/>
              <a:ext cx="4324261" cy="2795353"/>
            </a:xfrm>
            <a:custGeom>
              <a:avLst/>
              <a:gdLst>
                <a:gd name="connsiteX0" fmla="*/ 0 w 4324261"/>
                <a:gd name="connsiteY0" fmla="*/ 0 h 2217599"/>
                <a:gd name="connsiteX1" fmla="*/ 4324261 w 4324261"/>
                <a:gd name="connsiteY1" fmla="*/ 0 h 2217599"/>
                <a:gd name="connsiteX2" fmla="*/ 4324261 w 4324261"/>
                <a:gd name="connsiteY2" fmla="*/ 2217599 h 2217599"/>
                <a:gd name="connsiteX3" fmla="*/ 0 w 4324261"/>
                <a:gd name="connsiteY3" fmla="*/ 2217599 h 2217599"/>
                <a:gd name="connsiteX4" fmla="*/ 0 w 4324261"/>
                <a:gd name="connsiteY4" fmla="*/ 0 h 221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261" h="2217599">
                  <a:moveTo>
                    <a:pt x="0" y="0"/>
                  </a:moveTo>
                  <a:lnTo>
                    <a:pt x="4324261" y="0"/>
                  </a:lnTo>
                  <a:lnTo>
                    <a:pt x="4324261" y="2217599"/>
                  </a:lnTo>
                  <a:lnTo>
                    <a:pt x="0" y="221759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35611" tIns="333248" rIns="335611" bIns="113792" numCol="1" spcCol="1270" anchor="t" anchorCtr="0">
              <a:noAutofit/>
            </a:bodyPr>
            <a:lstStyle/>
            <a:p>
              <a:pPr marL="171450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/>
                <a:t>Exit surveys for churned customers</a:t>
              </a:r>
            </a:p>
            <a:p>
              <a:pPr marL="628650" lvl="1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900" dirty="0"/>
                <a:t>Root-cause analysis on customer reviews</a:t>
              </a:r>
            </a:p>
            <a:p>
              <a:pPr marL="171450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/>
                <a:t>Customer-based promotions</a:t>
              </a:r>
            </a:p>
            <a:p>
              <a:pPr marL="628650" lvl="1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900" dirty="0"/>
                <a:t>Based on state</a:t>
              </a:r>
              <a:r>
                <a:rPr lang="en-US" sz="900"/>
                <a:t>, service &amp; </a:t>
              </a:r>
              <a:r>
                <a:rPr lang="en-US" sz="900" dirty="0"/>
                <a:t>contract type </a:t>
              </a:r>
            </a:p>
            <a:p>
              <a:pPr marL="171450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/>
                <a:t>Promotions for month-to-month customers</a:t>
              </a:r>
            </a:p>
            <a:p>
              <a:pPr marL="628650" lvl="1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900" dirty="0"/>
                <a:t>Provide contract extension promotions</a:t>
              </a:r>
            </a:p>
            <a:p>
              <a:pPr marL="171450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/>
                <a:t>Offer competitive internet packages</a:t>
              </a:r>
            </a:p>
            <a:p>
              <a:pPr marL="628650" lvl="1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900" dirty="0"/>
                <a:t>Conquest pricing</a:t>
              </a:r>
            </a:p>
            <a:p>
              <a:pPr marL="628650" lvl="1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900" dirty="0"/>
                <a:t>Create local-level offerings to compete with other brands</a:t>
              </a:r>
            </a:p>
            <a:p>
              <a:pPr marL="171450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/>
                <a:t>Establish loyalty program</a:t>
              </a:r>
            </a:p>
            <a:p>
              <a:pPr marL="628650" lvl="1" indent="-1714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900" dirty="0"/>
                <a:t>Discounts to create incentives</a:t>
              </a:r>
              <a:endParaRPr lang="en-US" sz="600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716C3FC-0615-5EF8-D051-564CAEE3FC70}"/>
                </a:ext>
              </a:extLst>
            </p:cNvPr>
            <p:cNvSpPr/>
            <p:nvPr/>
          </p:nvSpPr>
          <p:spPr>
            <a:xfrm>
              <a:off x="8488409" y="1977038"/>
              <a:ext cx="3462076" cy="472320"/>
            </a:xfrm>
            <a:custGeom>
              <a:avLst/>
              <a:gdLst>
                <a:gd name="connsiteX0" fmla="*/ 0 w 3026982"/>
                <a:gd name="connsiteY0" fmla="*/ 78722 h 472320"/>
                <a:gd name="connsiteX1" fmla="*/ 78722 w 3026982"/>
                <a:gd name="connsiteY1" fmla="*/ 0 h 472320"/>
                <a:gd name="connsiteX2" fmla="*/ 2948260 w 3026982"/>
                <a:gd name="connsiteY2" fmla="*/ 0 h 472320"/>
                <a:gd name="connsiteX3" fmla="*/ 3026982 w 3026982"/>
                <a:gd name="connsiteY3" fmla="*/ 78722 h 472320"/>
                <a:gd name="connsiteX4" fmla="*/ 3026982 w 3026982"/>
                <a:gd name="connsiteY4" fmla="*/ 393598 h 472320"/>
                <a:gd name="connsiteX5" fmla="*/ 2948260 w 3026982"/>
                <a:gd name="connsiteY5" fmla="*/ 472320 h 472320"/>
                <a:gd name="connsiteX6" fmla="*/ 78722 w 3026982"/>
                <a:gd name="connsiteY6" fmla="*/ 472320 h 472320"/>
                <a:gd name="connsiteX7" fmla="*/ 0 w 3026982"/>
                <a:gd name="connsiteY7" fmla="*/ 393598 h 472320"/>
                <a:gd name="connsiteX8" fmla="*/ 0 w 3026982"/>
                <a:gd name="connsiteY8" fmla="*/ 78722 h 47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6982" h="472320">
                  <a:moveTo>
                    <a:pt x="0" y="78722"/>
                  </a:moveTo>
                  <a:cubicBezTo>
                    <a:pt x="0" y="35245"/>
                    <a:pt x="35245" y="0"/>
                    <a:pt x="78722" y="0"/>
                  </a:cubicBezTo>
                  <a:lnTo>
                    <a:pt x="2948260" y="0"/>
                  </a:lnTo>
                  <a:cubicBezTo>
                    <a:pt x="2991737" y="0"/>
                    <a:pt x="3026982" y="35245"/>
                    <a:pt x="3026982" y="78722"/>
                  </a:cubicBezTo>
                  <a:lnTo>
                    <a:pt x="3026982" y="393598"/>
                  </a:lnTo>
                  <a:cubicBezTo>
                    <a:pt x="3026982" y="437075"/>
                    <a:pt x="2991737" y="472320"/>
                    <a:pt x="2948260" y="472320"/>
                  </a:cubicBezTo>
                  <a:lnTo>
                    <a:pt x="78722" y="472320"/>
                  </a:lnTo>
                  <a:cubicBezTo>
                    <a:pt x="35245" y="472320"/>
                    <a:pt x="0" y="437075"/>
                    <a:pt x="0" y="393598"/>
                  </a:cubicBezTo>
                  <a:lnTo>
                    <a:pt x="0" y="7872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7470" tIns="23057" rIns="137470" bIns="23057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Strategic Recommendations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871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557</TotalTime>
  <Words>192</Words>
  <Application>Microsoft Macintosh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Wingdings 3</vt:lpstr>
      <vt:lpstr>Ion</vt:lpstr>
      <vt:lpstr>Executive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 Senoren</dc:creator>
  <cp:lastModifiedBy>Joanne Senoren</cp:lastModifiedBy>
  <cp:revision>46</cp:revision>
  <dcterms:created xsi:type="dcterms:W3CDTF">2025-01-09T06:51:34Z</dcterms:created>
  <dcterms:modified xsi:type="dcterms:W3CDTF">2025-01-25T22:25:29Z</dcterms:modified>
</cp:coreProperties>
</file>